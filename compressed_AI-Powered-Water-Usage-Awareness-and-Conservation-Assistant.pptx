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Mona Sans Semi Bold"/>
      <p:regular r:id="rId14"/>
    </p:embeddedFont>
    <p:embeddedFont>
      <p:font typeface="Mona Sans Semi Bold"/>
      <p:regular r:id="rId15"/>
    </p:embeddedFont>
    <p:embeddedFont>
      <p:font typeface="Mona Sans Semi Bold"/>
      <p:regular r:id="rId16"/>
    </p:embeddedFont>
    <p:embeddedFont>
      <p:font typeface="Mona Sans Semi Bold"/>
      <p:regular r:id="rId17"/>
    </p:embeddedFont>
    <p:embeddedFont>
      <p:font typeface="Funnel Sans"/>
      <p:regular r:id="rId18"/>
    </p:embeddedFont>
    <p:embeddedFont>
      <p:font typeface="Funnel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736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AI-Powered Water Usage Awareness and Conservation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338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Discover how artificial intelligence can transform water conservation efforts in residential and campus facilities.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2148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1M1B – IBM SkillsBuild AI + Sustainability Internship Project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Aligned with SDG 6: Clean Water and Sanitation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0992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Introducing a Conceptual AI Prototype for a Sustainable Future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361" y="624245"/>
            <a:ext cx="7559278" cy="113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Addressing the Critical Challenge of Water Wastage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2361" y="1973342"/>
            <a:ext cx="7559278" cy="1299329"/>
          </a:xfrm>
          <a:prstGeom prst="roundRect">
            <a:avLst>
              <a:gd name="adj" fmla="val 8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9501" y="1973342"/>
            <a:ext cx="91440" cy="1299329"/>
          </a:xfrm>
          <a:prstGeom prst="roundRect">
            <a:avLst>
              <a:gd name="adj" fmla="val 83195"/>
            </a:avLst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1064895" y="2177296"/>
            <a:ext cx="2918698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Significant Water Wastage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64895" y="2547223"/>
            <a:ext cx="708279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Water wastage is a pervasive sustainability issue, particularly in high-density residential areas and hostels.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2361" y="3417570"/>
            <a:ext cx="7559278" cy="1299329"/>
          </a:xfrm>
          <a:prstGeom prst="roundRect">
            <a:avLst>
              <a:gd name="adj" fmla="val 8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9501" y="3417570"/>
            <a:ext cx="91440" cy="1299329"/>
          </a:xfrm>
          <a:prstGeom prst="roundRect">
            <a:avLst>
              <a:gd name="adj" fmla="val 83195"/>
            </a:avLst>
          </a:prstGeom>
          <a:solidFill>
            <a:srgbClr val="373B48"/>
          </a:solidFill>
          <a:ln/>
        </p:spPr>
      </p:sp>
      <p:sp>
        <p:nvSpPr>
          <p:cNvPr id="10" name="Text 7"/>
          <p:cNvSpPr/>
          <p:nvPr/>
        </p:nvSpPr>
        <p:spPr>
          <a:xfrm>
            <a:off x="1064895" y="3621524"/>
            <a:ext cx="226397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Lack of Awareness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64895" y="3991451"/>
            <a:ext cx="708279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critical barrier to conservation is the lack of awareness regarding personal water consumption habits and their environmental impact.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2361" y="4861798"/>
            <a:ext cx="7559278" cy="1299329"/>
          </a:xfrm>
          <a:prstGeom prst="roundRect">
            <a:avLst>
              <a:gd name="adj" fmla="val 8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9501" y="4861798"/>
            <a:ext cx="91440" cy="1299329"/>
          </a:xfrm>
          <a:prstGeom prst="roundRect">
            <a:avLst>
              <a:gd name="adj" fmla="val 83195"/>
            </a:avLst>
          </a:prstGeom>
          <a:solidFill>
            <a:srgbClr val="373B48"/>
          </a:solidFill>
          <a:ln/>
        </p:spPr>
      </p:sp>
      <p:sp>
        <p:nvSpPr>
          <p:cNvPr id="14" name="Text 11"/>
          <p:cNvSpPr/>
          <p:nvPr/>
        </p:nvSpPr>
        <p:spPr>
          <a:xfrm>
            <a:off x="1064895" y="5065752"/>
            <a:ext cx="307300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Absence of Actionable Tools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64895" y="5435679"/>
            <a:ext cx="708279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There's a noticeable gap in simple, accessible tools that provide practical, actionable insights for reducing water usage.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2361" y="6306026"/>
            <a:ext cx="7559278" cy="1299329"/>
          </a:xfrm>
          <a:prstGeom prst="roundRect">
            <a:avLst>
              <a:gd name="adj" fmla="val 8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9501" y="6306026"/>
            <a:ext cx="91440" cy="1299329"/>
          </a:xfrm>
          <a:prstGeom prst="roundRect">
            <a:avLst>
              <a:gd name="adj" fmla="val 83195"/>
            </a:avLst>
          </a:prstGeom>
          <a:solidFill>
            <a:srgbClr val="373B48"/>
          </a:solidFill>
          <a:ln/>
        </p:spPr>
      </p:sp>
      <p:sp>
        <p:nvSpPr>
          <p:cNvPr id="18" name="Text 15"/>
          <p:cNvSpPr/>
          <p:nvPr/>
        </p:nvSpPr>
        <p:spPr>
          <a:xfrm>
            <a:off x="1064895" y="6509980"/>
            <a:ext cx="25587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Threat to Sustainability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64895" y="6879908"/>
            <a:ext cx="708279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Inefficient water usage directly impacts long-term water sustainability, threatening future resources and ecosystem health.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4265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Global Goals: Our Commitment to Water Sustainability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943219"/>
            <a:ext cx="75564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project directly contributes to the United Nations Sustainable Development Goals, fostering a more sustainable planet.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611279"/>
            <a:ext cx="3584615" cy="79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Primary SDG Alignment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93790" y="3529965"/>
            <a:ext cx="3584615" cy="2058352"/>
          </a:xfrm>
          <a:prstGeom prst="roundRect">
            <a:avLst>
              <a:gd name="adj" fmla="val 324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3696295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373B4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089" y="3827264"/>
            <a:ext cx="214313" cy="214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283631"/>
            <a:ext cx="325195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SDG 6: Clean Water and Sanitation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960120" y="4990028"/>
            <a:ext cx="325195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Ensuring availability and sustainable management of water and sanitation for all.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773216" y="2611279"/>
            <a:ext cx="3584615" cy="79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Secondary SDG Alignment</a:t>
            </a:r>
            <a:endParaRPr lang="en-US" sz="2500" dirty="0"/>
          </a:p>
        </p:txBody>
      </p:sp>
      <p:sp>
        <p:nvSpPr>
          <p:cNvPr id="12" name="Shape 8"/>
          <p:cNvSpPr/>
          <p:nvPr/>
        </p:nvSpPr>
        <p:spPr>
          <a:xfrm>
            <a:off x="4773216" y="3768090"/>
            <a:ext cx="3584615" cy="1617464"/>
          </a:xfrm>
          <a:prstGeom prst="roundRect">
            <a:avLst>
              <a:gd name="adj" fmla="val 67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773216" y="3745230"/>
            <a:ext cx="3584615" cy="91440"/>
          </a:xfrm>
          <a:prstGeom prst="roundRect">
            <a:avLst>
              <a:gd name="adj" fmla="val 72930"/>
            </a:avLst>
          </a:prstGeom>
          <a:solidFill>
            <a:srgbClr val="373B48"/>
          </a:solidFill>
          <a:ln/>
        </p:spPr>
      </p:sp>
      <p:sp>
        <p:nvSpPr>
          <p:cNvPr id="14" name="Shape 10"/>
          <p:cNvSpPr/>
          <p:nvPr/>
        </p:nvSpPr>
        <p:spPr>
          <a:xfrm>
            <a:off x="6327338" y="352996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73B4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0213" y="3672840"/>
            <a:ext cx="190500" cy="190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54786" y="4164925"/>
            <a:ext cx="322147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SDG 12: Responsible Consumption and Production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954786" y="4772025"/>
            <a:ext cx="322147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Promoting efficient use of resources and reducing waste generation.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73216" y="5734764"/>
            <a:ext cx="3584615" cy="1585436"/>
          </a:xfrm>
          <a:prstGeom prst="roundRect">
            <a:avLst>
              <a:gd name="adj" fmla="val 692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4773216" y="5711904"/>
            <a:ext cx="3584615" cy="91440"/>
          </a:xfrm>
          <a:prstGeom prst="roundRect">
            <a:avLst>
              <a:gd name="adj" fmla="val 72930"/>
            </a:avLst>
          </a:prstGeom>
          <a:solidFill>
            <a:srgbClr val="373B4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27338" y="549663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73B4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0213" y="5639514"/>
            <a:ext cx="190500" cy="1905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54786" y="6131600"/>
            <a:ext cx="220146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SDG 13: Climate Action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4954786" y="6490692"/>
            <a:ext cx="3221474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Taking urgent action to combat climate change and its impacts through resource conservation.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7709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Introducing Our AI-Based Water Conservation Assistant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473881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innovative solution leverages artificial intelligence to empower users with personalized water usage insights and recommendations.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337637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3712012"/>
            <a:ext cx="4211122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880604"/>
            <a:ext cx="354568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Conversational AI Interface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3790" y="4339947"/>
            <a:ext cx="4211122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intuitive, interactive AI assistant designed for easy user engagement.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09580" y="337637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9580" y="3712012"/>
            <a:ext cx="4211122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8"/>
          <p:cNvSpPr/>
          <p:nvPr/>
        </p:nvSpPr>
        <p:spPr>
          <a:xfrm>
            <a:off x="5209580" y="388060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Data Input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209580" y="4339947"/>
            <a:ext cx="4211122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provide simple, basic details about their daily water consumption activities.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25370" y="337637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3712012"/>
            <a:ext cx="4211122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2"/>
          <p:cNvSpPr/>
          <p:nvPr/>
        </p:nvSpPr>
        <p:spPr>
          <a:xfrm>
            <a:off x="9625370" y="388060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AI-Powered Analysis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25370" y="4339947"/>
            <a:ext cx="4211122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AI analyzes input through advanced prompt-based workflows, understanding usage patterns.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93790" y="571452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93790" y="6050161"/>
            <a:ext cx="6419017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6218753"/>
            <a:ext cx="276153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Personalized Insights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93790" y="6678097"/>
            <a:ext cx="64190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Delivers tailored insights into water consumption, highlighting areas for improvement.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17475" y="571452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17475" y="6050161"/>
            <a:ext cx="6419017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2" name="Text 20"/>
          <p:cNvSpPr/>
          <p:nvPr/>
        </p:nvSpPr>
        <p:spPr>
          <a:xfrm>
            <a:off x="7417475" y="6218753"/>
            <a:ext cx="434173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Water-Saving Recommendations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417475" y="6678097"/>
            <a:ext cx="64190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Provides practical and effective suggestions to reduce water usage and promote conservation.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515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185" y="1931670"/>
            <a:ext cx="5579150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AI Workflow: From Input to Impact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30185" y="2455783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prototype outlines a clear, iterative process for guiding users towards more sustainable water practices.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18" y="2739271"/>
            <a:ext cx="10377845" cy="40683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4685" y="2938792"/>
            <a:ext cx="1899747" cy="30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355660" y="2938792"/>
            <a:ext cx="1899747" cy="6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Prompt Processing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355660" y="5997386"/>
            <a:ext cx="1899747" cy="6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Sustainability Comparison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374685" y="5997386"/>
            <a:ext cx="1899747" cy="61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Insights &amp; Decisions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0185" y="6916698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Input:</a:t>
            </a:r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Simple questions about daily habits.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30185" y="7125057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Prompt Processing:</a:t>
            </a:r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Advanced algorithms interpret the data.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30185" y="7333417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Sustainability Benchmark Comparison:</a:t>
            </a:r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Compares user data against eco-friendly standards.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30185" y="7541776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Insights &amp; Recommendations:</a:t>
            </a:r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Delivers actionable advice.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0185" y="7750135"/>
            <a:ext cx="13570029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Informed User Decisions:</a:t>
            </a:r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Empowers users to make sustainable choices.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3924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Under the Hood: AI Technologies &amp; Responsible Implementation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80190" y="2296001"/>
            <a:ext cx="34367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AI Technologies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6280190" y="2955131"/>
            <a:ext cx="85011" cy="85011"/>
          </a:xfrm>
          <a:prstGeom prst="roundRect">
            <a:avLst>
              <a:gd name="adj" fmla="val 537813"/>
            </a:avLst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6492716" y="28647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Prompt Engineering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92716" y="3258026"/>
            <a:ext cx="33581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Crafting precise queries to guide AI analysis and generate relevant insights.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80190" y="4079796"/>
            <a:ext cx="85011" cy="85011"/>
          </a:xfrm>
          <a:prstGeom prst="roundRect">
            <a:avLst>
              <a:gd name="adj" fmla="val 537813"/>
            </a:avLst>
          </a:prstGeom>
          <a:solidFill>
            <a:srgbClr val="373B48"/>
          </a:solidFill>
          <a:ln/>
        </p:spPr>
      </p:sp>
      <p:sp>
        <p:nvSpPr>
          <p:cNvPr id="9" name="Text 6"/>
          <p:cNvSpPr/>
          <p:nvPr/>
        </p:nvSpPr>
        <p:spPr>
          <a:xfrm>
            <a:off x="6492716" y="398942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Conversational AI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492716" y="4382691"/>
            <a:ext cx="33581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Enabling natural and intuitive interaction with the water assistant.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80190" y="5204460"/>
            <a:ext cx="85011" cy="85011"/>
          </a:xfrm>
          <a:prstGeom prst="roundRect">
            <a:avLst>
              <a:gd name="adj" fmla="val 537813"/>
            </a:avLst>
          </a:prstGeom>
          <a:solidFill>
            <a:srgbClr val="373B48"/>
          </a:solidFill>
          <a:ln/>
        </p:spPr>
      </p:sp>
      <p:sp>
        <p:nvSpPr>
          <p:cNvPr id="12" name="Text 9"/>
          <p:cNvSpPr/>
          <p:nvPr/>
        </p:nvSpPr>
        <p:spPr>
          <a:xfrm>
            <a:off x="6492716" y="5114092"/>
            <a:ext cx="285476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Information Summarization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92716" y="5507355"/>
            <a:ext cx="33581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Distilling complex data into clear, concise, and actionable recommendations.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80190" y="6329124"/>
            <a:ext cx="85011" cy="85011"/>
          </a:xfrm>
          <a:prstGeom prst="roundRect">
            <a:avLst>
              <a:gd name="adj" fmla="val 537813"/>
            </a:avLst>
          </a:prstGeom>
          <a:solidFill>
            <a:srgbClr val="373B48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716" y="6238756"/>
            <a:ext cx="325874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Conceptual IBM Granite Models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492716" y="6632019"/>
            <a:ext cx="33581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Leveraging foundational AI models for robust data processing and understanding.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73546" y="2296001"/>
            <a:ext cx="357068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Responsible AI Principles</a:t>
            </a:r>
            <a:endParaRPr lang="en-US" sz="2650" dirty="0"/>
          </a:p>
        </p:txBody>
      </p:sp>
      <p:sp>
        <p:nvSpPr>
          <p:cNvPr id="18" name="Shape 15"/>
          <p:cNvSpPr/>
          <p:nvPr/>
        </p:nvSpPr>
        <p:spPr>
          <a:xfrm>
            <a:off x="10273546" y="3290054"/>
            <a:ext cx="3570684" cy="3882033"/>
          </a:xfrm>
          <a:prstGeom prst="roundRect">
            <a:avLst>
              <a:gd name="adj" fmla="val 2001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1166" y="3297674"/>
            <a:ext cx="3555444" cy="1447681"/>
          </a:xfrm>
          <a:prstGeom prst="roundRect">
            <a:avLst>
              <a:gd name="adj" fmla="val 4936"/>
            </a:avLst>
          </a:prstGeom>
          <a:solidFill>
            <a:srgbClr val="E2E4E9"/>
          </a:solidFill>
          <a:ln/>
        </p:spPr>
      </p:sp>
      <p:sp>
        <p:nvSpPr>
          <p:cNvPr id="20" name="Text 17"/>
          <p:cNvSpPr/>
          <p:nvPr/>
        </p:nvSpPr>
        <p:spPr>
          <a:xfrm>
            <a:off x="10451187" y="346769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 Personal Data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0451187" y="3860959"/>
            <a:ext cx="321540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Ensuring user privacy by avoiding the collection of sensitive personal information.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281166" y="4745355"/>
            <a:ext cx="3555444" cy="1209556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23" name="Shape 20"/>
          <p:cNvSpPr/>
          <p:nvPr/>
        </p:nvSpPr>
        <p:spPr>
          <a:xfrm>
            <a:off x="10281166" y="4745355"/>
            <a:ext cx="3555444" cy="2286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</p:sp>
      <p:sp>
        <p:nvSpPr>
          <p:cNvPr id="24" name="Text 21"/>
          <p:cNvSpPr/>
          <p:nvPr/>
        </p:nvSpPr>
        <p:spPr>
          <a:xfrm>
            <a:off x="10451187" y="4915376"/>
            <a:ext cx="215312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Transparent Outputs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451187" y="5308640"/>
            <a:ext cx="32154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Providing clear explanations for all recommendations and insights.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281166" y="5954911"/>
            <a:ext cx="3555444" cy="1209556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27" name="Shape 24"/>
          <p:cNvSpPr/>
          <p:nvPr/>
        </p:nvSpPr>
        <p:spPr>
          <a:xfrm>
            <a:off x="10281166" y="5954911"/>
            <a:ext cx="3555444" cy="22860"/>
          </a:xfrm>
          <a:prstGeom prst="roundRect">
            <a:avLst>
              <a:gd name="adj" fmla="val 312558"/>
            </a:avLst>
          </a:prstGeom>
          <a:solidFill>
            <a:srgbClr val="C8CACF"/>
          </a:solidFill>
          <a:ln/>
        </p:spPr>
      </p:sp>
      <p:sp>
        <p:nvSpPr>
          <p:cNvPr id="28" name="Text 25"/>
          <p:cNvSpPr/>
          <p:nvPr/>
        </p:nvSpPr>
        <p:spPr>
          <a:xfrm>
            <a:off x="10451187" y="61249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Ethical &amp; Unbiased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0451187" y="6518196"/>
            <a:ext cx="32154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Developing the AI with a commitment to fairness and preventing algorithmic bias.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736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503" y="2594015"/>
            <a:ext cx="6694051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Anticipated Impact &amp; Future Vision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89503" y="3253264"/>
            <a:ext cx="13051393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AI assistant promises significant environmental benefits and has immense potential for future enhancements.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9503" y="3702725"/>
            <a:ext cx="3158014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Expected Impact</a:t>
            </a:r>
            <a:endParaRPr lang="en-US" sz="2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678" y="4226540"/>
            <a:ext cx="236815" cy="2368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2544" y="4221718"/>
            <a:ext cx="236291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Reduced Water Wastage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302544" y="4578906"/>
            <a:ext cx="5820132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Directly contributes to a measurable decrease in unnecessary water consumption.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678" y="5019377"/>
            <a:ext cx="236815" cy="2368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02544" y="5014555"/>
            <a:ext cx="202811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Increased Awareness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302544" y="5371743"/>
            <a:ext cx="5820132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Educates users on their water footprint, fostering a deeper understanding of conservation.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678" y="6026884"/>
            <a:ext cx="236815" cy="2368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02544" y="6022062"/>
            <a:ext cx="2836307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Sustainable Behavior Change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302544" y="6379250"/>
            <a:ext cx="5820132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Promotes long-term shifts towards eco-conscious habits in daily life.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515344" y="3702725"/>
            <a:ext cx="3158014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Scope</a:t>
            </a:r>
            <a:endParaRPr lang="en-US" sz="2450" dirty="0"/>
          </a:p>
        </p:txBody>
      </p:sp>
      <p:sp>
        <p:nvSpPr>
          <p:cNvPr id="16" name="Shape 10"/>
          <p:cNvSpPr/>
          <p:nvPr/>
        </p:nvSpPr>
        <p:spPr>
          <a:xfrm>
            <a:off x="7515344" y="4221718"/>
            <a:ext cx="6333173" cy="947380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538204" y="4244578"/>
            <a:ext cx="631508" cy="901660"/>
          </a:xfrm>
          <a:prstGeom prst="roundRect">
            <a:avLst>
              <a:gd name="adj" fmla="val 6158"/>
            </a:avLst>
          </a:prstGeom>
          <a:solidFill>
            <a:srgbClr val="E2E4E9"/>
          </a:solidFill>
          <a:ln/>
        </p:spPr>
      </p:sp>
      <p:sp>
        <p:nvSpPr>
          <p:cNvPr id="18" name="Text 12"/>
          <p:cNvSpPr/>
          <p:nvPr/>
        </p:nvSpPr>
        <p:spPr>
          <a:xfrm>
            <a:off x="7731681" y="4547354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8280202" y="4402455"/>
            <a:ext cx="2292072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Smart Meter Integration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280202" y="4759643"/>
            <a:ext cx="538757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Connecting with IoT devices for real-time, automated water usage data.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515344" y="5279588"/>
            <a:ext cx="6333173" cy="947380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538204" y="5302448"/>
            <a:ext cx="631508" cy="901660"/>
          </a:xfrm>
          <a:prstGeom prst="roundRect">
            <a:avLst>
              <a:gd name="adj" fmla="val 6158"/>
            </a:avLst>
          </a:prstGeom>
          <a:solidFill>
            <a:srgbClr val="E2E4E9"/>
          </a:solidFill>
          <a:ln/>
        </p:spPr>
      </p:sp>
      <p:sp>
        <p:nvSpPr>
          <p:cNvPr id="23" name="Text 17"/>
          <p:cNvSpPr/>
          <p:nvPr/>
        </p:nvSpPr>
        <p:spPr>
          <a:xfrm>
            <a:off x="7731681" y="5605224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8280202" y="5460325"/>
            <a:ext cx="2045375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Mobile/Web Interface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280202" y="5817513"/>
            <a:ext cx="538757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Developing accessible platforms for broader user reach and convenience.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515344" y="6337459"/>
            <a:ext cx="6333173" cy="1148001"/>
          </a:xfrm>
          <a:prstGeom prst="roundRect">
            <a:avLst>
              <a:gd name="adj" fmla="val 577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38204" y="6360319"/>
            <a:ext cx="631508" cy="1102281"/>
          </a:xfrm>
          <a:prstGeom prst="roundRect">
            <a:avLst>
              <a:gd name="adj" fmla="val 6158"/>
            </a:avLst>
          </a:prstGeom>
          <a:solidFill>
            <a:srgbClr val="E2E4E9"/>
          </a:solidFill>
          <a:ln/>
        </p:spPr>
      </p:sp>
      <p:sp>
        <p:nvSpPr>
          <p:cNvPr id="28" name="Text 22"/>
          <p:cNvSpPr/>
          <p:nvPr/>
        </p:nvSpPr>
        <p:spPr>
          <a:xfrm>
            <a:off x="7731681" y="6763464"/>
            <a:ext cx="236815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9" name="Text 23"/>
          <p:cNvSpPr/>
          <p:nvPr/>
        </p:nvSpPr>
        <p:spPr>
          <a:xfrm>
            <a:off x="8280202" y="6518196"/>
            <a:ext cx="2495312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Community-Level Insights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8280202" y="6875383"/>
            <a:ext cx="5387578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Aggregating anonymous data to provide conservation strategies for entire facilities or campuses.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2026-01-19T11:15:55Z</dcterms:created>
  <dcterms:modified xsi:type="dcterms:W3CDTF">2026-01-19T11:15:55Z</dcterms:modified>
</cp:coreProperties>
</file>